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67" r:id="rId13"/>
    <p:sldId id="268" r:id="rId14"/>
    <p:sldId id="269" r:id="rId15"/>
    <p:sldId id="260" r:id="rId16"/>
    <p:sldId id="270" r:id="rId17"/>
  </p:sldIdLst>
  <p:sldSz cx="14630400" cy="8229600"/>
  <p:notesSz cx="8229600" cy="14630400"/>
  <p:embeddedFontLst>
    <p:embeddedFont>
      <p:font typeface="Inter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54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2C8B-0FA8-FC16-D7FF-F8090F74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CCA30-F6D6-726B-5D51-79D68362D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09E71-C38A-A71E-1B1E-930D80939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853D7-0FBA-1466-0A43-52795EF9C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9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0C5D-C90C-C8AE-298E-DCE95B64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093B6-DAC6-2302-B441-7EB0AA540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2D6E7-53CA-ED40-C7C2-B05127026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7150F-2821-0CF2-7661-54E16F2BD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62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80AA-CF32-4FB2-EF04-99B9A644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9347C-7DBB-6163-33EF-1E2140FD5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C99C7-70B4-12D5-44EE-306DE4E95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07942-6CBA-6C90-1B75-A82D2329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25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C36C0-426B-58EF-EFFC-DB676A27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590E1-F3CD-8C63-B767-2093EFCAE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6810D-1701-C6BA-FDBC-A49C2F2D0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8F03C-B4B3-983F-5389-F0214985A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35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5097-0061-F1EF-189E-7FD9AA7B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A02C3-E38E-041F-230B-6E681D80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3B22C-2345-B1E9-0FF1-9D1E6E3BC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59516-B3A2-F620-3B36-9EC98A140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70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AB40-F415-FD2C-D8D2-2D722B1F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7AF92-6C13-68C0-3C95-F35F07D87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58C6D-D7B3-B37B-78AC-FB782EE03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B2D95-AE9B-363C-63EE-229FBA706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1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55E9-B781-3EE2-9D14-7B46B310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F0D82B-9A29-63A9-8707-7D35B967750B}"/>
              </a:ext>
            </a:extLst>
          </p:cNvPr>
          <p:cNvSpPr/>
          <p:nvPr/>
        </p:nvSpPr>
        <p:spPr>
          <a:xfrm>
            <a:off x="3387328" y="3100521"/>
            <a:ext cx="7855744" cy="126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5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Personal Portfolio Website</a:t>
            </a:r>
            <a:endParaRPr lang="en-US" sz="5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AE3687-8751-2C0E-1151-31B056F228D7}"/>
              </a:ext>
            </a:extLst>
          </p:cNvPr>
          <p:cNvSpPr txBox="1"/>
          <p:nvPr/>
        </p:nvSpPr>
        <p:spPr>
          <a:xfrm>
            <a:off x="365347" y="6167497"/>
            <a:ext cx="58570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ptos" panose="020B0004020202020204" pitchFamily="34" charset="0"/>
                <a:ea typeface="Petrona Bold" pitchFamily="34" charset="-122"/>
              </a:rPr>
              <a:t>Created</a:t>
            </a:r>
            <a:r>
              <a:rPr lang="en-US" sz="3200" b="1" dirty="0">
                <a:solidFill>
                  <a:srgbClr val="F95F88"/>
                </a:solidFill>
                <a:latin typeface="Aptos" panose="020B0004020202020204" pitchFamily="34" charset="0"/>
                <a:ea typeface="Petrona Bold" pitchFamily="34" charset="-122"/>
              </a:rPr>
              <a:t> by:- Priyanshu Singh</a:t>
            </a:r>
          </a:p>
          <a:p>
            <a:endParaRPr lang="en-US" sz="3200" b="1" dirty="0">
              <a:solidFill>
                <a:srgbClr val="F95F88"/>
              </a:solidFill>
              <a:latin typeface="Aptos" panose="020B0004020202020204" pitchFamily="34" charset="0"/>
              <a:ea typeface="Petrona Bold" pitchFamily="34" charset="-122"/>
            </a:endParaRPr>
          </a:p>
          <a:p>
            <a:r>
              <a:rPr lang="en-US" sz="3200" b="1" dirty="0">
                <a:solidFill>
                  <a:srgbClr val="F95F88"/>
                </a:solidFill>
                <a:latin typeface="Aptos" panose="020B0004020202020204" pitchFamily="34" charset="0"/>
                <a:ea typeface="Petrona Bold" pitchFamily="34" charset="-122"/>
              </a:rPr>
              <a:t>(202501100100197)</a:t>
            </a:r>
            <a:endParaRPr lang="en-US" sz="3200" dirty="0">
              <a:latin typeface="Aptos" panose="020B0004020202020204" pitchFamily="34" charset="0"/>
            </a:endParaRPr>
          </a:p>
          <a:p>
            <a:endParaRPr lang="en-IN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AB72FE-0ED4-8AF1-36BC-D083FEDE66FD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58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6928" y="719495"/>
            <a:ext cx="7855744" cy="126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u="sng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Personal Portfolio Website</a:t>
            </a:r>
            <a:endParaRPr lang="en-US" sz="3950" u="sng" dirty="0"/>
          </a:p>
        </p:txBody>
      </p:sp>
      <p:sp>
        <p:nvSpPr>
          <p:cNvPr id="4" name="Text 1"/>
          <p:cNvSpPr/>
          <p:nvPr/>
        </p:nvSpPr>
        <p:spPr>
          <a:xfrm>
            <a:off x="186928" y="1925069"/>
            <a:ext cx="7855744" cy="883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describe my personal portfolio website, which showcase my skills, services, and projects. It is like a digital identity, allowing visitors to explore my work, understand my capabilities, and easily connect with me.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79308" y="3360182"/>
            <a:ext cx="3835837" cy="2134791"/>
          </a:xfrm>
          <a:prstGeom prst="roundRect">
            <a:avLst>
              <a:gd name="adj" fmla="val 362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8500" y="3580433"/>
            <a:ext cx="552093" cy="552093"/>
          </a:xfrm>
          <a:prstGeom prst="roundRect">
            <a:avLst>
              <a:gd name="adj" fmla="val 16560771"/>
            </a:avLst>
          </a:prstGeom>
          <a:solidFill>
            <a:srgbClr val="6237C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04" y="3732237"/>
            <a:ext cx="248364" cy="2483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8500" y="4316477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Concept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378500" y="4743197"/>
            <a:ext cx="3452693" cy="5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clean, modern dark-theme UI built with HTML, CSS, and basic JavaScript.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06716" y="3388861"/>
            <a:ext cx="3835956" cy="2134791"/>
          </a:xfrm>
          <a:prstGeom prst="roundRect">
            <a:avLst>
              <a:gd name="adj" fmla="val 362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98288" y="3580433"/>
            <a:ext cx="552093" cy="552093"/>
          </a:xfrm>
          <a:prstGeom prst="roundRect">
            <a:avLst>
              <a:gd name="adj" fmla="val 16560771"/>
            </a:avLst>
          </a:prstGeom>
          <a:solidFill>
            <a:srgbClr val="6237C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0093" y="3732237"/>
            <a:ext cx="248364" cy="2483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98288" y="4316477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Identity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4398288" y="4743197"/>
            <a:ext cx="3452813" cy="5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hub for visitors to learn about me, view my work, and initiate contact.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186928" y="5707603"/>
            <a:ext cx="7855744" cy="1840349"/>
          </a:xfrm>
          <a:prstGeom prst="roundRect">
            <a:avLst>
              <a:gd name="adj" fmla="val 4200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8500" y="5899175"/>
            <a:ext cx="552093" cy="552093"/>
          </a:xfrm>
          <a:prstGeom prst="roundRect">
            <a:avLst>
              <a:gd name="adj" fmla="val 16560771"/>
            </a:avLst>
          </a:prstGeom>
          <a:solidFill>
            <a:srgbClr val="6237C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304" y="6050980"/>
            <a:ext cx="248364" cy="2483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8500" y="6635219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Philosophy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378500" y="7061939"/>
            <a:ext cx="7472601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Focused on simplicity, smooth navigation, and professional presentation.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27378-B5FD-C7AD-A18D-25BF86BE487B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473" y="431721"/>
            <a:ext cx="8980408" cy="539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u="sng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3350" u="sng" dirty="0"/>
          </a:p>
        </p:txBody>
      </p:sp>
      <p:sp>
        <p:nvSpPr>
          <p:cNvPr id="4" name="Shape 2"/>
          <p:cNvSpPr/>
          <p:nvPr/>
        </p:nvSpPr>
        <p:spPr>
          <a:xfrm>
            <a:off x="549473" y="1948458"/>
            <a:ext cx="6687264" cy="1689854"/>
          </a:xfrm>
          <a:prstGeom prst="roundRect">
            <a:avLst>
              <a:gd name="adj" fmla="val 6493"/>
            </a:avLst>
          </a:prstGeom>
          <a:solidFill>
            <a:srgbClr val="FDFAF7"/>
          </a:solidFill>
          <a:ln/>
        </p:spPr>
      </p:sp>
      <p:sp>
        <p:nvSpPr>
          <p:cNvPr id="5" name="Shape 3"/>
          <p:cNvSpPr/>
          <p:nvPr/>
        </p:nvSpPr>
        <p:spPr>
          <a:xfrm>
            <a:off x="549473" y="1925598"/>
            <a:ext cx="6687264" cy="91440"/>
          </a:xfrm>
          <a:prstGeom prst="roundRect">
            <a:avLst>
              <a:gd name="adj" fmla="val 72110"/>
            </a:avLst>
          </a:prstGeom>
          <a:solidFill>
            <a:srgbClr val="6237C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60" y="1713071"/>
            <a:ext cx="470892" cy="470892"/>
          </a:xfrm>
          <a:prstGeom prst="roundRect">
            <a:avLst>
              <a:gd name="adj" fmla="val 194185"/>
            </a:avLst>
          </a:prstGeom>
          <a:solidFill>
            <a:srgbClr val="6237C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8868" y="1854279"/>
            <a:ext cx="188357" cy="1883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9258" y="2340888"/>
            <a:ext cx="2158603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Home Section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29258" y="2704862"/>
            <a:ext cx="6327696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home section which displays:- "Hi, I’m Priyanshu Singh – Web Developer from India," with my name highlighted in a vibrant red color.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93662" y="1948458"/>
            <a:ext cx="6687264" cy="1689854"/>
          </a:xfrm>
          <a:prstGeom prst="roundRect">
            <a:avLst>
              <a:gd name="adj" fmla="val 6493"/>
            </a:avLst>
          </a:prstGeom>
          <a:solidFill>
            <a:srgbClr val="FDFAF7"/>
          </a:solidFill>
          <a:ln/>
        </p:spPr>
      </p:sp>
      <p:sp>
        <p:nvSpPr>
          <p:cNvPr id="11" name="Shape 8"/>
          <p:cNvSpPr/>
          <p:nvPr/>
        </p:nvSpPr>
        <p:spPr>
          <a:xfrm>
            <a:off x="7393662" y="1925598"/>
            <a:ext cx="6687264" cy="91440"/>
          </a:xfrm>
          <a:prstGeom prst="roundRect">
            <a:avLst>
              <a:gd name="adj" fmla="val 72110"/>
            </a:avLst>
          </a:prstGeom>
          <a:solidFill>
            <a:srgbClr val="6237C8"/>
          </a:solidFill>
          <a:ln/>
        </p:spPr>
      </p:sp>
      <p:sp>
        <p:nvSpPr>
          <p:cNvPr id="12" name="Shape 9"/>
          <p:cNvSpPr/>
          <p:nvPr/>
        </p:nvSpPr>
        <p:spPr>
          <a:xfrm>
            <a:off x="10501848" y="1713071"/>
            <a:ext cx="470892" cy="470892"/>
          </a:xfrm>
          <a:prstGeom prst="roundRect">
            <a:avLst>
              <a:gd name="adj" fmla="val 194185"/>
            </a:avLst>
          </a:prstGeom>
          <a:solidFill>
            <a:srgbClr val="6237C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43056" y="1854279"/>
            <a:ext cx="188357" cy="1883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73447" y="2340888"/>
            <a:ext cx="2158603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About Section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7573447" y="2704862"/>
            <a:ext cx="6327696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 space including my profile image and a personal introduction. It includes a dynamic interface for easy access to my Skills, Experience, and Education, with smooth transitions.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9473" y="4030623"/>
            <a:ext cx="6687264" cy="1689854"/>
          </a:xfrm>
          <a:prstGeom prst="roundRect">
            <a:avLst>
              <a:gd name="adj" fmla="val 6493"/>
            </a:avLst>
          </a:prstGeom>
          <a:solidFill>
            <a:srgbClr val="FDFAF7"/>
          </a:solidFill>
          <a:ln/>
        </p:spPr>
      </p:sp>
      <p:sp>
        <p:nvSpPr>
          <p:cNvPr id="17" name="Shape 13"/>
          <p:cNvSpPr/>
          <p:nvPr/>
        </p:nvSpPr>
        <p:spPr>
          <a:xfrm>
            <a:off x="549473" y="4007763"/>
            <a:ext cx="6687264" cy="91440"/>
          </a:xfrm>
          <a:prstGeom prst="roundRect">
            <a:avLst>
              <a:gd name="adj" fmla="val 72110"/>
            </a:avLst>
          </a:prstGeom>
          <a:solidFill>
            <a:srgbClr val="6237C8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660" y="3795236"/>
            <a:ext cx="470892" cy="470892"/>
          </a:xfrm>
          <a:prstGeom prst="roundRect">
            <a:avLst>
              <a:gd name="adj" fmla="val 194185"/>
            </a:avLst>
          </a:prstGeom>
          <a:solidFill>
            <a:srgbClr val="6237C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868" y="3936444"/>
            <a:ext cx="188357" cy="18835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9258" y="4423053"/>
            <a:ext cx="2158603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Services Section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729258" y="4787027"/>
            <a:ext cx="6327696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visually appealing grid layout which shows my offerings: Web Design, UI/UX Design, and App Design. Each card features an engaging hover animation that changes its colour and subtly lifts it upward.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393662" y="4030623"/>
            <a:ext cx="6687264" cy="1689854"/>
          </a:xfrm>
          <a:prstGeom prst="roundRect">
            <a:avLst>
              <a:gd name="adj" fmla="val 6493"/>
            </a:avLst>
          </a:prstGeom>
          <a:solidFill>
            <a:srgbClr val="FDFAF7"/>
          </a:solidFill>
          <a:ln/>
        </p:spPr>
      </p:sp>
      <p:sp>
        <p:nvSpPr>
          <p:cNvPr id="23" name="Shape 18"/>
          <p:cNvSpPr/>
          <p:nvPr/>
        </p:nvSpPr>
        <p:spPr>
          <a:xfrm>
            <a:off x="7393662" y="4007763"/>
            <a:ext cx="6687264" cy="91440"/>
          </a:xfrm>
          <a:prstGeom prst="roundRect">
            <a:avLst>
              <a:gd name="adj" fmla="val 72110"/>
            </a:avLst>
          </a:prstGeom>
          <a:solidFill>
            <a:srgbClr val="6237C8"/>
          </a:solidFill>
          <a:ln/>
        </p:spPr>
      </p:sp>
      <p:sp>
        <p:nvSpPr>
          <p:cNvPr id="24" name="Shape 19"/>
          <p:cNvSpPr/>
          <p:nvPr/>
        </p:nvSpPr>
        <p:spPr>
          <a:xfrm>
            <a:off x="10501848" y="3795236"/>
            <a:ext cx="470892" cy="470892"/>
          </a:xfrm>
          <a:prstGeom prst="roundRect">
            <a:avLst>
              <a:gd name="adj" fmla="val 194185"/>
            </a:avLst>
          </a:prstGeom>
          <a:solidFill>
            <a:srgbClr val="6237C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43056" y="3936444"/>
            <a:ext cx="188357" cy="18835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73447" y="4423053"/>
            <a:ext cx="2285167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Portfolio/Work Section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7573447" y="4787027"/>
            <a:ext cx="6327696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section which showcase my work or projects which I have done. Each project displays a layered overlay on hover, revealing its title and a brief description.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9473" y="6112788"/>
            <a:ext cx="6687264" cy="1689854"/>
          </a:xfrm>
          <a:prstGeom prst="roundRect">
            <a:avLst>
              <a:gd name="adj" fmla="val 6493"/>
            </a:avLst>
          </a:prstGeom>
          <a:solidFill>
            <a:srgbClr val="FDFAF7"/>
          </a:solidFill>
          <a:ln/>
        </p:spPr>
      </p:sp>
      <p:sp>
        <p:nvSpPr>
          <p:cNvPr id="29" name="Shape 23"/>
          <p:cNvSpPr/>
          <p:nvPr/>
        </p:nvSpPr>
        <p:spPr>
          <a:xfrm>
            <a:off x="549473" y="6089928"/>
            <a:ext cx="6687264" cy="91440"/>
          </a:xfrm>
          <a:prstGeom prst="roundRect">
            <a:avLst>
              <a:gd name="adj" fmla="val 72110"/>
            </a:avLst>
          </a:prstGeom>
          <a:solidFill>
            <a:srgbClr val="6237C8"/>
          </a:solidFill>
          <a:ln/>
        </p:spPr>
      </p:sp>
      <p:sp>
        <p:nvSpPr>
          <p:cNvPr id="30" name="Shape 24"/>
          <p:cNvSpPr/>
          <p:nvPr/>
        </p:nvSpPr>
        <p:spPr>
          <a:xfrm>
            <a:off x="3657660" y="5877401"/>
            <a:ext cx="470892" cy="470892"/>
          </a:xfrm>
          <a:prstGeom prst="roundRect">
            <a:avLst>
              <a:gd name="adj" fmla="val 194185"/>
            </a:avLst>
          </a:prstGeom>
          <a:solidFill>
            <a:srgbClr val="6237C8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98868" y="6018609"/>
            <a:ext cx="188357" cy="18835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9258" y="6505218"/>
            <a:ext cx="2158603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Contact Section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729258" y="6869191"/>
            <a:ext cx="6327696" cy="83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This section provides my contact details which are my email address and mobile number. I t  also has a ‘download CV’ button. It also provides a message box where people can drop their messages.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7393662" y="6112788"/>
            <a:ext cx="6687264" cy="1689854"/>
          </a:xfrm>
          <a:prstGeom prst="roundRect">
            <a:avLst>
              <a:gd name="adj" fmla="val 6493"/>
            </a:avLst>
          </a:prstGeom>
          <a:solidFill>
            <a:srgbClr val="FDFAF7"/>
          </a:solidFill>
          <a:ln/>
        </p:spPr>
      </p:sp>
      <p:sp>
        <p:nvSpPr>
          <p:cNvPr id="35" name="Shape 28"/>
          <p:cNvSpPr/>
          <p:nvPr/>
        </p:nvSpPr>
        <p:spPr>
          <a:xfrm>
            <a:off x="7393662" y="6089928"/>
            <a:ext cx="6687264" cy="91440"/>
          </a:xfrm>
          <a:prstGeom prst="roundRect">
            <a:avLst>
              <a:gd name="adj" fmla="val 72110"/>
            </a:avLst>
          </a:prstGeom>
          <a:solidFill>
            <a:srgbClr val="6237C8"/>
          </a:solidFill>
          <a:ln/>
        </p:spPr>
      </p:sp>
      <p:sp>
        <p:nvSpPr>
          <p:cNvPr id="36" name="Shape 29"/>
          <p:cNvSpPr/>
          <p:nvPr/>
        </p:nvSpPr>
        <p:spPr>
          <a:xfrm>
            <a:off x="10501848" y="5877401"/>
            <a:ext cx="470892" cy="470892"/>
          </a:xfrm>
          <a:prstGeom prst="roundRect">
            <a:avLst>
              <a:gd name="adj" fmla="val 194185"/>
            </a:avLst>
          </a:prstGeom>
          <a:solidFill>
            <a:srgbClr val="6237C8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43056" y="6018609"/>
            <a:ext cx="188357" cy="18835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573447" y="6505218"/>
            <a:ext cx="2916674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Smooth Animations &amp; Effects</a:t>
            </a:r>
            <a:endParaRPr lang="en-US" sz="2800" dirty="0"/>
          </a:p>
        </p:txBody>
      </p:sp>
      <p:sp>
        <p:nvSpPr>
          <p:cNvPr id="39" name="Text 31"/>
          <p:cNvSpPr/>
          <p:nvPr/>
        </p:nvSpPr>
        <p:spPr>
          <a:xfrm>
            <a:off x="7573447" y="6869192"/>
            <a:ext cx="6327696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website includes subtle hover effects, easy navigation and smooth scrolling, enhancing the overall user interaction and visual appeal.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080B3A-976E-5CCD-7835-730ECF4D13D4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026" y="530543"/>
            <a:ext cx="9861233" cy="575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Technologies/Tools Used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86026" y="1441133"/>
            <a:ext cx="1345834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Below are the technologies as well as tools from html, CSS and </a:t>
            </a: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Javascript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which has been used in my portfolio.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86026" y="2064901"/>
            <a:ext cx="2415897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 Technologies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2" y="2546152"/>
            <a:ext cx="251103" cy="2511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0141" y="2541032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HTML5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130141" y="2996208"/>
            <a:ext cx="5980867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language is used for structuring the entire website content, ensuring semantic and accessible markup.</a:t>
            </a: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2" y="3872270"/>
            <a:ext cx="251103" cy="2511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0141" y="3867150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1130141" y="4322326"/>
            <a:ext cx="5980867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is used for advanced styling, creating responsive layouts and attractive visual effects.</a:t>
            </a: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2" y="5198388"/>
            <a:ext cx="251103" cy="2511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0141" y="5193268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JavaScript 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1130141" y="5648444"/>
            <a:ext cx="5980867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used for interactive elements such as dynamic tab switching, smooth animations, and enhancing overall user engagement.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527012" y="2064901"/>
            <a:ext cx="3011329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&amp; Development Tools</a:t>
            </a:r>
            <a:endParaRPr lang="en-US" sz="3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9391" y="2514601"/>
            <a:ext cx="251103" cy="2511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63508" y="2509481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Images</a:t>
            </a:r>
            <a:endParaRPr lang="en-US" sz="3200" dirty="0"/>
          </a:p>
        </p:txBody>
      </p:sp>
      <p:sp>
        <p:nvSpPr>
          <p:cNvPr id="20" name="Text 13"/>
          <p:cNvSpPr/>
          <p:nvPr/>
        </p:nvSpPr>
        <p:spPr>
          <a:xfrm>
            <a:off x="8000761" y="2964657"/>
            <a:ext cx="5980867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Images have been used in my profile as well as wherever there is a need to enhance the website visually.</a:t>
            </a:r>
            <a:endParaRPr lang="en-US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7012" y="4071223"/>
            <a:ext cx="251103" cy="25110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00760" y="4112767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VS Code &amp; DevTools</a:t>
            </a:r>
            <a:endParaRPr lang="en-US" sz="3200" dirty="0"/>
          </a:p>
        </p:txBody>
      </p:sp>
      <p:sp>
        <p:nvSpPr>
          <p:cNvPr id="23" name="Text 15"/>
          <p:cNvSpPr/>
          <p:nvPr/>
        </p:nvSpPr>
        <p:spPr>
          <a:xfrm>
            <a:off x="8000760" y="4524313"/>
            <a:ext cx="5980867" cy="925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VS Code has been used as a code editor with development tools it provides to ease the process of generating the website.</a:t>
            </a:r>
            <a:endParaRPr lang="en-US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7012" y="5586049"/>
            <a:ext cx="251103" cy="25110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000761" y="5609564"/>
            <a:ext cx="3986800" cy="45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Google Fonts (Poppins)</a:t>
            </a:r>
            <a:endParaRPr lang="en-US" sz="3200" dirty="0"/>
          </a:p>
        </p:txBody>
      </p:sp>
      <p:sp>
        <p:nvSpPr>
          <p:cNvPr id="26" name="Text 17"/>
          <p:cNvSpPr/>
          <p:nvPr/>
        </p:nvSpPr>
        <p:spPr>
          <a:xfrm>
            <a:off x="8063508" y="5940325"/>
            <a:ext cx="5980867" cy="848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Google Fonts has been used to make it look aesthetic and appealing wherever it is possible.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C54F11-EE00-1906-82C7-6F1276B3B1BB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6611" y="872132"/>
            <a:ext cx="8130778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Essential HTML Tools used in designing</a:t>
            </a:r>
          </a:p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the portfolio.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611" y="2236351"/>
            <a:ext cx="434221" cy="4342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6611" y="2851428"/>
            <a:ext cx="19906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&lt;!DOCTYPE html&gt;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06611" y="3187065"/>
            <a:ext cx="8130778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Type: Declares the document as HTML5, essential for correct rendering.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611" y="3708083"/>
            <a:ext cx="434221" cy="4342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6611" y="4323159"/>
            <a:ext cx="19906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&lt;html&gt;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06611" y="4658797"/>
            <a:ext cx="8130778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Element: The container for all other HTML elements on the page.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611" y="5179814"/>
            <a:ext cx="434221" cy="4342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6611" y="5794891"/>
            <a:ext cx="19906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&lt;head&gt;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06611" y="6130528"/>
            <a:ext cx="8130778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Container: Holds non-visible information about the page, like its title and links to stylesheets.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611" y="6651546"/>
            <a:ext cx="434221" cy="4342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6611" y="7266623"/>
            <a:ext cx="19906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&lt;meta&gt;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06611" y="7602260"/>
            <a:ext cx="8130778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Info: Provides essential metadata for browsers and search engines.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6A67F9-05CD-A28A-1F06-6E82522408FA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700" y="508873"/>
            <a:ext cx="10592753" cy="63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 Building Blocks: Content &amp; Interaction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7700" y="2019062"/>
            <a:ext cx="6574988" cy="1436727"/>
          </a:xfrm>
          <a:prstGeom prst="roundRect">
            <a:avLst>
              <a:gd name="adj" fmla="val 7637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40" y="2019062"/>
            <a:ext cx="91440" cy="1436727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924163" y="2226945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&lt;title&gt;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24163" y="2655927"/>
            <a:ext cx="60906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Name: Sets the title displayed in the browser tab.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7712" y="2019062"/>
            <a:ext cx="6574988" cy="1436727"/>
          </a:xfrm>
          <a:prstGeom prst="roundRect">
            <a:avLst>
              <a:gd name="adj" fmla="val 7637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84852" y="2019062"/>
            <a:ext cx="91440" cy="1436727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10" name="Text 8"/>
          <p:cNvSpPr/>
          <p:nvPr/>
        </p:nvSpPr>
        <p:spPr>
          <a:xfrm>
            <a:off x="7684175" y="2226945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&lt;link&gt;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4175" y="2655927"/>
            <a:ext cx="6090642" cy="59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Connect: Links external resources like CSS stylesheets to your HTML document.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700" y="3640812"/>
            <a:ext cx="6574988" cy="1436727"/>
          </a:xfrm>
          <a:prstGeom prst="roundRect">
            <a:avLst>
              <a:gd name="adj" fmla="val 7637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" y="3640812"/>
            <a:ext cx="91440" cy="1436727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14" name="Text 12"/>
          <p:cNvSpPr/>
          <p:nvPr/>
        </p:nvSpPr>
        <p:spPr>
          <a:xfrm>
            <a:off x="924163" y="3848695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&lt;body&gt;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4163" y="4277678"/>
            <a:ext cx="60906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Area: Contains all visible page content, from text to images.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7712" y="3640812"/>
            <a:ext cx="6574988" cy="1436727"/>
          </a:xfrm>
          <a:prstGeom prst="roundRect">
            <a:avLst>
              <a:gd name="adj" fmla="val 7637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84852" y="3640812"/>
            <a:ext cx="91440" cy="1436727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18" name="Text 16"/>
          <p:cNvSpPr/>
          <p:nvPr/>
        </p:nvSpPr>
        <p:spPr>
          <a:xfrm>
            <a:off x="7684175" y="3848695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&lt;div&gt;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4175" y="4277678"/>
            <a:ext cx="6090642" cy="591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Container: A versatile block-level element for grouping and styling content.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00" y="5262563"/>
            <a:ext cx="6574988" cy="1140738"/>
          </a:xfrm>
          <a:prstGeom prst="roundRect">
            <a:avLst>
              <a:gd name="adj" fmla="val 961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840" y="5262563"/>
            <a:ext cx="91440" cy="1140738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22" name="Text 20"/>
          <p:cNvSpPr/>
          <p:nvPr/>
        </p:nvSpPr>
        <p:spPr>
          <a:xfrm>
            <a:off x="924163" y="5470446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&lt;nav&gt;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4163" y="5899428"/>
            <a:ext cx="60906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Navigation: Defines a section containing navigation links.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7712" y="5262563"/>
            <a:ext cx="6574988" cy="1140738"/>
          </a:xfrm>
          <a:prstGeom prst="roundRect">
            <a:avLst>
              <a:gd name="adj" fmla="val 961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84852" y="5262563"/>
            <a:ext cx="91440" cy="1140738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26" name="Text 24"/>
          <p:cNvSpPr/>
          <p:nvPr/>
        </p:nvSpPr>
        <p:spPr>
          <a:xfrm>
            <a:off x="7684175" y="5470446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&lt;ul&gt;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4175" y="5899428"/>
            <a:ext cx="60906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Unordered List: Creates a bulleted list of items.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7700" y="6588323"/>
            <a:ext cx="6574988" cy="1140738"/>
          </a:xfrm>
          <a:prstGeom prst="roundRect">
            <a:avLst>
              <a:gd name="adj" fmla="val 961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840" y="6588323"/>
            <a:ext cx="91440" cy="1140738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30" name="Text 28"/>
          <p:cNvSpPr/>
          <p:nvPr/>
        </p:nvSpPr>
        <p:spPr>
          <a:xfrm>
            <a:off x="924163" y="6796207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&lt;li&gt;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4163" y="7225189"/>
            <a:ext cx="60906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Item: Represents an item within an ordered or unordered list.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07712" y="6588323"/>
            <a:ext cx="6574988" cy="1140738"/>
          </a:xfrm>
          <a:prstGeom prst="roundRect">
            <a:avLst>
              <a:gd name="adj" fmla="val 9619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84852" y="6588323"/>
            <a:ext cx="91440" cy="1140738"/>
          </a:xfrm>
          <a:prstGeom prst="roundRect">
            <a:avLst>
              <a:gd name="adj" fmla="val 85004"/>
            </a:avLst>
          </a:prstGeom>
          <a:solidFill>
            <a:srgbClr val="6237C8"/>
          </a:solidFill>
          <a:ln/>
        </p:spPr>
      </p:sp>
      <p:sp>
        <p:nvSpPr>
          <p:cNvPr id="34" name="Text 32"/>
          <p:cNvSpPr/>
          <p:nvPr/>
        </p:nvSpPr>
        <p:spPr>
          <a:xfrm>
            <a:off x="7684175" y="6796207"/>
            <a:ext cx="254460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&lt;a&gt;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84175" y="7225189"/>
            <a:ext cx="60906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Hyperlink: Creates clickable links to other pages or resources.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C90FAE-E5B5-14F2-E078-AB47FD4C22FC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701" y="815935"/>
            <a:ext cx="11658481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Styling with CSS: Making Webpage Beautiful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657701" y="2349579"/>
            <a:ext cx="13314998" cy="5063966"/>
          </a:xfrm>
          <a:prstGeom prst="roundRect">
            <a:avLst>
              <a:gd name="adj" fmla="val 155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321" y="2357199"/>
            <a:ext cx="6649879" cy="1111925"/>
          </a:xfrm>
          <a:prstGeom prst="roundRect">
            <a:avLst>
              <a:gd name="adj" fmla="val 7099"/>
            </a:avLst>
          </a:prstGeom>
          <a:solidFill>
            <a:srgbClr val="E0D7F4"/>
          </a:solidFill>
          <a:ln/>
        </p:spPr>
      </p:sp>
      <p:sp>
        <p:nvSpPr>
          <p:cNvPr id="6" name="Text 4"/>
          <p:cNvSpPr/>
          <p:nvPr/>
        </p:nvSpPr>
        <p:spPr>
          <a:xfrm>
            <a:off x="853202" y="2545080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* (Universal Selector)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3202" y="2980730"/>
            <a:ext cx="627411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 Margin: Selects all elements to apply universal styles.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0" y="2357199"/>
            <a:ext cx="6649879" cy="1111925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357199"/>
            <a:ext cx="22860" cy="1111925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10" name="Text 8"/>
          <p:cNvSpPr/>
          <p:nvPr/>
        </p:nvSpPr>
        <p:spPr>
          <a:xfrm>
            <a:off x="7503081" y="2545080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margin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03081" y="2980730"/>
            <a:ext cx="627411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Spacing: Controls the outer spacing around an element.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5321" y="3469124"/>
            <a:ext cx="6649879" cy="1412438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65321" y="3469124"/>
            <a:ext cx="6649879" cy="22860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14" name="Text 12"/>
          <p:cNvSpPr/>
          <p:nvPr/>
        </p:nvSpPr>
        <p:spPr>
          <a:xfrm>
            <a:off x="853202" y="3657005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padding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3202" y="4092654"/>
            <a:ext cx="6274118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Space: Controls the inner spacing between an element's content and its border.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0" y="3469124"/>
            <a:ext cx="6649879" cy="1412438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469124"/>
            <a:ext cx="22860" cy="1412438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3469124"/>
            <a:ext cx="6649879" cy="22860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19" name="Text 17"/>
          <p:cNvSpPr/>
          <p:nvPr/>
        </p:nvSpPr>
        <p:spPr>
          <a:xfrm>
            <a:off x="7503081" y="3657005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font-family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03081" y="4092654"/>
            <a:ext cx="627411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Typography: Specifies the typeface for text.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5321" y="4881563"/>
            <a:ext cx="6649879" cy="1412438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5321" y="4881563"/>
            <a:ext cx="6649879" cy="22860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23" name="Text 21"/>
          <p:cNvSpPr/>
          <p:nvPr/>
        </p:nvSpPr>
        <p:spPr>
          <a:xfrm>
            <a:off x="853202" y="5069443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box-sizing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3202" y="5505093"/>
            <a:ext cx="6274118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Model: Defines how an element's total width and height are calculated.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315200" y="4881563"/>
            <a:ext cx="6649879" cy="1412438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4881563"/>
            <a:ext cx="22860" cy="1412438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4881563"/>
            <a:ext cx="6649879" cy="22860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28" name="Text 26"/>
          <p:cNvSpPr/>
          <p:nvPr/>
        </p:nvSpPr>
        <p:spPr>
          <a:xfrm>
            <a:off x="7503081" y="5069443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scroll-behavior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03081" y="5505093"/>
            <a:ext cx="627411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Smoothness: Controls the scroll animation for scrollable boxes.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65321" y="6294001"/>
            <a:ext cx="6649879" cy="1111925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65321" y="6294001"/>
            <a:ext cx="6649879" cy="22860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32" name="Text 30"/>
          <p:cNvSpPr/>
          <p:nvPr/>
        </p:nvSpPr>
        <p:spPr>
          <a:xfrm>
            <a:off x="853202" y="6481882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background-color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53202" y="6917531"/>
            <a:ext cx="627411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Color: Sets the background colour of an element.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7315200" y="6294001"/>
            <a:ext cx="6649879" cy="1111925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6294001"/>
            <a:ext cx="22860" cy="1111925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0" y="6294001"/>
            <a:ext cx="6649879" cy="22860"/>
          </a:xfrm>
          <a:prstGeom prst="roundRect">
            <a:avLst>
              <a:gd name="adj" fmla="val 345280"/>
            </a:avLst>
          </a:prstGeom>
          <a:solidFill>
            <a:srgbClr val="C6BDDA"/>
          </a:solidFill>
          <a:ln/>
        </p:spPr>
      </p:sp>
      <p:sp>
        <p:nvSpPr>
          <p:cNvPr id="37" name="Text 35"/>
          <p:cNvSpPr/>
          <p:nvPr/>
        </p:nvSpPr>
        <p:spPr>
          <a:xfrm>
            <a:off x="7503081" y="6481882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color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503081" y="6917531"/>
            <a:ext cx="627411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Colour: Sets the colour of the text within an element.</a:t>
            </a:r>
            <a:endParaRPr lang="en-US" sz="14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7EE41A-98E0-8F09-675F-B4EA688E3FC9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04" y="433268"/>
            <a:ext cx="9991368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CSS Techniques: Layout &amp; Responsiveness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30304" y="1669971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04" y="1912144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530304" y="2018348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width &amp; height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04" y="2369582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Control: Define the dimensions of elements.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0924" y="1669971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90924" y="1912144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0" name="Text 8"/>
          <p:cNvSpPr/>
          <p:nvPr/>
        </p:nvSpPr>
        <p:spPr>
          <a:xfrm>
            <a:off x="7390924" y="2018348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background-size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90924" y="2369582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Scaling: Adjusts the size of the background image.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04" y="2877026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04" y="3119199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04" y="3225403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background-position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04" y="3576638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Alignment: Positions the background image within its element.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90924" y="2877026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90924" y="3119199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8" name="Text 16"/>
          <p:cNvSpPr/>
          <p:nvPr/>
        </p:nvSpPr>
        <p:spPr>
          <a:xfrm>
            <a:off x="7390924" y="3225403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display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90924" y="3576638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Method: Specifies how an element is displayed, influencing its layout behaviour.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04" y="4084082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04" y="4326255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04" y="4432459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flex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04" y="4783693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Alignment: A shorthand for setting the flex properties on a flexible item.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90924" y="4084082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90924" y="4326255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6" name="Text 24"/>
          <p:cNvSpPr/>
          <p:nvPr/>
        </p:nvSpPr>
        <p:spPr>
          <a:xfrm>
            <a:off x="7390924" y="4432459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justify-content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90924" y="4783693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Positioning: Aligns items along the main axis of a flex container.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04" y="5291138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04" y="5533311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04" y="5639514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align-items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04" y="5990749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Centering: Aligns items along the cross axis of a flex container.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90924" y="5291138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90924" y="5533311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34" name="Text 32"/>
          <p:cNvSpPr/>
          <p:nvPr/>
        </p:nvSpPr>
        <p:spPr>
          <a:xfrm>
            <a:off x="7390924" y="5639514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flex-wrap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90924" y="5990749"/>
            <a:ext cx="6709172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Wrapping: Controls whether flex items are forced onto one line or can wrap onto multiple lines.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04" y="6740604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30304" y="6982778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04" y="7088981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list-style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04" y="7440216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Bullets: Styles the bullet points or numbering of list items.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90924" y="6740604"/>
            <a:ext cx="151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90924" y="6982778"/>
            <a:ext cx="6709172" cy="1524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42" name="Text 40"/>
          <p:cNvSpPr/>
          <p:nvPr/>
        </p:nvSpPr>
        <p:spPr>
          <a:xfrm>
            <a:off x="7390924" y="7088981"/>
            <a:ext cx="208335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text-decoration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90924" y="7440216"/>
            <a:ext cx="670917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Decoration: Adds lines (underline, overline, line-through) to text.</a:t>
            </a: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62EDB7-D39B-0387-4212-DBC93538FCC7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574" y="298013"/>
            <a:ext cx="4881801" cy="39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CSS for Interactivity &amp; Aesthetics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7075" y="1621631"/>
            <a:ext cx="4527947" cy="877848"/>
          </a:xfrm>
          <a:prstGeom prst="roundRect">
            <a:avLst>
              <a:gd name="adj" fmla="val 8333"/>
            </a:avLst>
          </a:prstGeom>
          <a:solidFill>
            <a:srgbClr val="FDFAF7"/>
          </a:solidFill>
          <a:ln/>
        </p:spPr>
      </p:sp>
      <p:sp>
        <p:nvSpPr>
          <p:cNvPr id="5" name="Shape 3"/>
          <p:cNvSpPr/>
          <p:nvPr/>
        </p:nvSpPr>
        <p:spPr>
          <a:xfrm>
            <a:off x="407075" y="1606391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6" name="Shape 4"/>
          <p:cNvSpPr/>
          <p:nvPr/>
        </p:nvSpPr>
        <p:spPr>
          <a:xfrm>
            <a:off x="2496622" y="1447205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7" name="Text 5"/>
          <p:cNvSpPr/>
          <p:nvPr/>
        </p:nvSpPr>
        <p:spPr>
          <a:xfrm>
            <a:off x="2601278" y="1534358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8520" y="1912382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font-size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8520" y="2181939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Size: Sets the size of the font.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51227" y="1621631"/>
            <a:ext cx="4527947" cy="877848"/>
          </a:xfrm>
          <a:prstGeom prst="roundRect">
            <a:avLst>
              <a:gd name="adj" fmla="val 8333"/>
            </a:avLst>
          </a:prstGeom>
          <a:solidFill>
            <a:srgbClr val="FDFAF7"/>
          </a:solidFill>
          <a:ln/>
        </p:spPr>
      </p:sp>
      <p:sp>
        <p:nvSpPr>
          <p:cNvPr id="11" name="Shape 9"/>
          <p:cNvSpPr/>
          <p:nvPr/>
        </p:nvSpPr>
        <p:spPr>
          <a:xfrm>
            <a:off x="5051227" y="1606391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12" name="Shape 10"/>
          <p:cNvSpPr/>
          <p:nvPr/>
        </p:nvSpPr>
        <p:spPr>
          <a:xfrm>
            <a:off x="7140773" y="1447205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13" name="Text 11"/>
          <p:cNvSpPr/>
          <p:nvPr/>
        </p:nvSpPr>
        <p:spPr>
          <a:xfrm>
            <a:off x="7245429" y="1534358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82672" y="1912382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82672" y="2181939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Placement: Controls an element's positioning on the page.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02453" y="1643569"/>
            <a:ext cx="4527947" cy="877848"/>
          </a:xfrm>
          <a:prstGeom prst="roundRect">
            <a:avLst>
              <a:gd name="adj" fmla="val 8333"/>
            </a:avLst>
          </a:prstGeom>
          <a:solidFill>
            <a:srgbClr val="FDFA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5378" y="1606391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84925" y="1447205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9581" y="1534358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26823" y="1912382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26823" y="2181939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Animation: Creates smooth changes in CSS property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values over a duration.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7075" y="2790111"/>
            <a:ext cx="4527947" cy="877848"/>
          </a:xfrm>
          <a:prstGeom prst="roundRect">
            <a:avLst>
              <a:gd name="adj" fmla="val 8333"/>
            </a:avLst>
          </a:prstGeom>
          <a:solidFill>
            <a:srgbClr val="FDFA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07075" y="2774871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24" name="Shape 22"/>
          <p:cNvSpPr/>
          <p:nvPr/>
        </p:nvSpPr>
        <p:spPr>
          <a:xfrm>
            <a:off x="2496622" y="2615684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25" name="Text 23"/>
          <p:cNvSpPr/>
          <p:nvPr/>
        </p:nvSpPr>
        <p:spPr>
          <a:xfrm>
            <a:off x="2601278" y="2702838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8520" y="3080861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margin-top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8520" y="3350419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Gap: Specifies the margin space on the top of an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1227" y="2790111"/>
            <a:ext cx="4527947" cy="877848"/>
          </a:xfrm>
          <a:prstGeom prst="roundRect">
            <a:avLst>
              <a:gd name="adj" fmla="val 8333"/>
            </a:avLst>
          </a:prstGeom>
          <a:solidFill>
            <a:srgbClr val="FDFAF7"/>
          </a:solidFill>
          <a:ln/>
        </p:spPr>
      </p:sp>
      <p:sp>
        <p:nvSpPr>
          <p:cNvPr id="29" name="Shape 27"/>
          <p:cNvSpPr/>
          <p:nvPr/>
        </p:nvSpPr>
        <p:spPr>
          <a:xfrm>
            <a:off x="5051227" y="2774871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30" name="Shape 28"/>
          <p:cNvSpPr/>
          <p:nvPr/>
        </p:nvSpPr>
        <p:spPr>
          <a:xfrm>
            <a:off x="7140773" y="2615684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31" name="Text 29"/>
          <p:cNvSpPr/>
          <p:nvPr/>
        </p:nvSpPr>
        <p:spPr>
          <a:xfrm>
            <a:off x="7245429" y="2702838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82672" y="3080861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font-weight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2672" y="3350419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Boldness: Sets the thickness (or boldness) of the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characters in text.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95378" y="2790111"/>
            <a:ext cx="4527947" cy="877848"/>
          </a:xfrm>
          <a:prstGeom prst="roundRect">
            <a:avLst>
              <a:gd name="adj" fmla="val 8333"/>
            </a:avLst>
          </a:prstGeom>
          <a:solidFill>
            <a:srgbClr val="FDFAF7"/>
          </a:solidFill>
          <a:ln/>
        </p:spPr>
      </p:sp>
      <p:sp>
        <p:nvSpPr>
          <p:cNvPr id="35" name="Shape 33"/>
          <p:cNvSpPr/>
          <p:nvPr/>
        </p:nvSpPr>
        <p:spPr>
          <a:xfrm>
            <a:off x="9695378" y="2774871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784925" y="2615684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9581" y="2702838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26823" y="3080861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padding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826823" y="3350419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Space: Controls the inner space of an element on all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sides.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07075" y="3958590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07075" y="3943350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42" name="Shape 40"/>
          <p:cNvSpPr/>
          <p:nvPr/>
        </p:nvSpPr>
        <p:spPr>
          <a:xfrm>
            <a:off x="2496622" y="3784163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43" name="Text 41"/>
          <p:cNvSpPr/>
          <p:nvPr/>
        </p:nvSpPr>
        <p:spPr>
          <a:xfrm>
            <a:off x="2601278" y="3871317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8520" y="4249341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border-radius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8520" y="4518898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Corners: Adds rounded corners to an</a:t>
            </a:r>
          </a:p>
          <a:p>
            <a:pPr marL="0" indent="0" algn="l">
              <a:lnSpc>
                <a:spcPts val="1450"/>
              </a:lnSpc>
              <a:buNone/>
            </a:pPr>
            <a:endParaRPr lang="en-US" sz="13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element's border.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51227" y="3958590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47" name="Shape 45"/>
          <p:cNvSpPr/>
          <p:nvPr/>
        </p:nvSpPr>
        <p:spPr>
          <a:xfrm>
            <a:off x="5051227" y="3943350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48" name="Shape 46"/>
          <p:cNvSpPr/>
          <p:nvPr/>
        </p:nvSpPr>
        <p:spPr>
          <a:xfrm>
            <a:off x="7140773" y="3784163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49" name="Text 47"/>
          <p:cNvSpPr/>
          <p:nvPr/>
        </p:nvSpPr>
        <p:spPr>
          <a:xfrm>
            <a:off x="7245429" y="3871317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82672" y="4249341"/>
            <a:ext cx="1701879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grid-template-columns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82672" y="4518898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Layout: Defines the column tracks of a grid layout.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695378" y="3958590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53" name="Shape 51"/>
          <p:cNvSpPr/>
          <p:nvPr/>
        </p:nvSpPr>
        <p:spPr>
          <a:xfrm>
            <a:off x="9695378" y="3943350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54" name="Shape 52"/>
          <p:cNvSpPr/>
          <p:nvPr/>
        </p:nvSpPr>
        <p:spPr>
          <a:xfrm>
            <a:off x="11784925" y="3784163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55" name="Text 53"/>
          <p:cNvSpPr/>
          <p:nvPr/>
        </p:nvSpPr>
        <p:spPr>
          <a:xfrm>
            <a:off x="11889581" y="3871317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826823" y="4249341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grid-gap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826823" y="4518898"/>
            <a:ext cx="4265057" cy="37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Spacing: Sets the size of the gap between rows and columns in a grid layout.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07075" y="5313164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59" name="Shape 57"/>
          <p:cNvSpPr/>
          <p:nvPr/>
        </p:nvSpPr>
        <p:spPr>
          <a:xfrm>
            <a:off x="407075" y="5297924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60" name="Shape 58"/>
          <p:cNvSpPr/>
          <p:nvPr/>
        </p:nvSpPr>
        <p:spPr>
          <a:xfrm>
            <a:off x="2496622" y="5138738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61" name="Text 59"/>
          <p:cNvSpPr/>
          <p:nvPr/>
        </p:nvSpPr>
        <p:spPr>
          <a:xfrm>
            <a:off x="2601278" y="5225891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38520" y="5603915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38520" y="5873472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Movement: Applies 2D or 3D transformations to an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element.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051227" y="5313164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65" name="Shape 63"/>
          <p:cNvSpPr/>
          <p:nvPr/>
        </p:nvSpPr>
        <p:spPr>
          <a:xfrm>
            <a:off x="5051227" y="5297924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66" name="Shape 64"/>
          <p:cNvSpPr/>
          <p:nvPr/>
        </p:nvSpPr>
        <p:spPr>
          <a:xfrm>
            <a:off x="7140773" y="5138738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67" name="Text 65"/>
          <p:cNvSpPr/>
          <p:nvPr/>
        </p:nvSpPr>
        <p:spPr>
          <a:xfrm>
            <a:off x="7245429" y="5225891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11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182672" y="5603915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182672" y="5873472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Fill: A shorthand property for setting all background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properties.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695378" y="5313164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71" name="Shape 69"/>
          <p:cNvSpPr/>
          <p:nvPr/>
        </p:nvSpPr>
        <p:spPr>
          <a:xfrm>
            <a:off x="9695378" y="5297924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72" name="Shape 70"/>
          <p:cNvSpPr/>
          <p:nvPr/>
        </p:nvSpPr>
        <p:spPr>
          <a:xfrm>
            <a:off x="11784925" y="5138738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73" name="Text 71"/>
          <p:cNvSpPr/>
          <p:nvPr/>
        </p:nvSpPr>
        <p:spPr>
          <a:xfrm>
            <a:off x="11889581" y="5225891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12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826823" y="5603915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overflow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826823" y="5873472"/>
            <a:ext cx="4265057" cy="37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Overflow Handling: Specifies what happens to content that overflows an element's box.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07075" y="6667738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77" name="Shape 75"/>
          <p:cNvSpPr/>
          <p:nvPr/>
        </p:nvSpPr>
        <p:spPr>
          <a:xfrm>
            <a:off x="407075" y="6652498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78" name="Shape 76"/>
          <p:cNvSpPr/>
          <p:nvPr/>
        </p:nvSpPr>
        <p:spPr>
          <a:xfrm>
            <a:off x="2496622" y="6493312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79" name="Text 77"/>
          <p:cNvSpPr/>
          <p:nvPr/>
        </p:nvSpPr>
        <p:spPr>
          <a:xfrm>
            <a:off x="2601278" y="6580465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13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38520" y="6958489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text-align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38520" y="7228046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Alignment: Aligns the inline content of a block element.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051227" y="6667738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83" name="Shape 81"/>
          <p:cNvSpPr/>
          <p:nvPr/>
        </p:nvSpPr>
        <p:spPr>
          <a:xfrm>
            <a:off x="5051227" y="6652498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84" name="Shape 82"/>
          <p:cNvSpPr/>
          <p:nvPr/>
        </p:nvSpPr>
        <p:spPr>
          <a:xfrm>
            <a:off x="7140773" y="6493312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85" name="Text 83"/>
          <p:cNvSpPr/>
          <p:nvPr/>
        </p:nvSpPr>
        <p:spPr>
          <a:xfrm>
            <a:off x="7245429" y="6580465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14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5182672" y="6958489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cursor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5182672" y="7228046"/>
            <a:ext cx="4265057" cy="37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Pointer: Specifies the mouse cursor to display when pointing over an element.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695378" y="6667738"/>
            <a:ext cx="4527947" cy="1063943"/>
          </a:xfrm>
          <a:prstGeom prst="roundRect">
            <a:avLst>
              <a:gd name="adj" fmla="val 6876"/>
            </a:avLst>
          </a:prstGeom>
          <a:solidFill>
            <a:srgbClr val="FDFAF7"/>
          </a:solidFill>
          <a:ln/>
        </p:spPr>
      </p:sp>
      <p:sp>
        <p:nvSpPr>
          <p:cNvPr id="89" name="Shape 87"/>
          <p:cNvSpPr/>
          <p:nvPr/>
        </p:nvSpPr>
        <p:spPr>
          <a:xfrm>
            <a:off x="9695378" y="6652498"/>
            <a:ext cx="4527947" cy="60960"/>
          </a:xfrm>
          <a:prstGeom prst="roundRect">
            <a:avLst>
              <a:gd name="adj" fmla="val 80143"/>
            </a:avLst>
          </a:prstGeom>
          <a:solidFill>
            <a:srgbClr val="6237C8"/>
          </a:solidFill>
          <a:ln/>
        </p:spPr>
      </p:sp>
      <p:sp>
        <p:nvSpPr>
          <p:cNvPr id="90" name="Shape 88"/>
          <p:cNvSpPr/>
          <p:nvPr/>
        </p:nvSpPr>
        <p:spPr>
          <a:xfrm>
            <a:off x="11784925" y="6493312"/>
            <a:ext cx="348853" cy="348853"/>
          </a:xfrm>
          <a:prstGeom prst="roundRect">
            <a:avLst>
              <a:gd name="adj" fmla="val 262116"/>
            </a:avLst>
          </a:prstGeom>
          <a:solidFill>
            <a:srgbClr val="6237C8"/>
          </a:solidFill>
          <a:ln/>
        </p:spPr>
      </p:sp>
      <p:sp>
        <p:nvSpPr>
          <p:cNvPr id="91" name="Text 89"/>
          <p:cNvSpPr/>
          <p:nvPr/>
        </p:nvSpPr>
        <p:spPr>
          <a:xfrm>
            <a:off x="11889581" y="6580465"/>
            <a:ext cx="13954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15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9826823" y="6958489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border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9826823" y="7228046"/>
            <a:ext cx="426505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Outline: Sets the border properties (width, style, colour)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an element.</a:t>
            </a:r>
            <a:endParaRPr lang="en-US" sz="13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940FDC-B0CE-A667-BD24-B74A2C0C07BF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17136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Showcase: A Glimpse of the Portfolio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6835" y="9285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6835" y="28795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396835" y="92134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396835" y="155473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396835" y="218811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6"/>
          <p:cNvSpPr/>
          <p:nvPr/>
        </p:nvSpPr>
        <p:spPr>
          <a:xfrm>
            <a:off x="396835" y="282150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contact section, featuring the dark-themed form with styled input fields, a clear submit button, alongside my contact details and an easily accessible CV download option.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A50D45-5BF3-4515-DAAF-F5B4E5FF5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356"/>
            <a:ext cx="14630400" cy="68408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945A74-6AA5-02D6-FCEE-47A3FBF7B68C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9F71-AE85-3564-7901-CAB18C32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D88C75-D4E5-7039-E474-D0B026852C45}"/>
              </a:ext>
            </a:extLst>
          </p:cNvPr>
          <p:cNvSpPr/>
          <p:nvPr/>
        </p:nvSpPr>
        <p:spPr>
          <a:xfrm>
            <a:off x="396835" y="311825"/>
            <a:ext cx="617136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Showcase: A Glimpse of the Portfolio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95749D-505F-E7A4-0A5C-D66984EA6960}"/>
              </a:ext>
            </a:extLst>
          </p:cNvPr>
          <p:cNvSpPr/>
          <p:nvPr/>
        </p:nvSpPr>
        <p:spPr>
          <a:xfrm>
            <a:off x="396835" y="9285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8B512F-B308-DF1D-B414-266436A5E870}"/>
              </a:ext>
            </a:extLst>
          </p:cNvPr>
          <p:cNvSpPr/>
          <p:nvPr/>
        </p:nvSpPr>
        <p:spPr>
          <a:xfrm>
            <a:off x="396835" y="28795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A791076-B134-41C5-F59F-141AACDFD3DB}"/>
              </a:ext>
            </a:extLst>
          </p:cNvPr>
          <p:cNvSpPr/>
          <p:nvPr/>
        </p:nvSpPr>
        <p:spPr>
          <a:xfrm>
            <a:off x="396835" y="92134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B33DB35-D7D8-82ED-6F73-11CEA57A2FF7}"/>
              </a:ext>
            </a:extLst>
          </p:cNvPr>
          <p:cNvSpPr/>
          <p:nvPr/>
        </p:nvSpPr>
        <p:spPr>
          <a:xfrm>
            <a:off x="396835" y="155473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C5F7855-0344-DEB1-60A4-E450D356C888}"/>
              </a:ext>
            </a:extLst>
          </p:cNvPr>
          <p:cNvSpPr/>
          <p:nvPr/>
        </p:nvSpPr>
        <p:spPr>
          <a:xfrm>
            <a:off x="396835" y="218811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7D86C91-B3DF-1E87-CD8F-5B189355FA46}"/>
              </a:ext>
            </a:extLst>
          </p:cNvPr>
          <p:cNvSpPr/>
          <p:nvPr/>
        </p:nvSpPr>
        <p:spPr>
          <a:xfrm>
            <a:off x="396835" y="282150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contact section, featuring the dark-themed form with styled input fields, a clear submit button, alongside my contact details and an easily accessible CV download option.</a:t>
            </a:r>
            <a:endParaRPr lang="en-US" sz="85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888464-8ED8-EBE0-B147-5F6FCAA90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1810"/>
            <a:ext cx="14630400" cy="6825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7E689A-7E29-957E-8B52-07769BC21DDA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34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75E4-016C-EC14-B4E3-1593C83F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E46055-8DA0-B5B4-1EA8-29CBE96BBFE9}"/>
              </a:ext>
            </a:extLst>
          </p:cNvPr>
          <p:cNvSpPr/>
          <p:nvPr/>
        </p:nvSpPr>
        <p:spPr>
          <a:xfrm>
            <a:off x="396835" y="311825"/>
            <a:ext cx="617136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Showcase: A Glimpse of the Portfolio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2DC8C2-50B4-6FAE-BAD1-FB2E3F6F46D9}"/>
              </a:ext>
            </a:extLst>
          </p:cNvPr>
          <p:cNvSpPr/>
          <p:nvPr/>
        </p:nvSpPr>
        <p:spPr>
          <a:xfrm>
            <a:off x="396835" y="9285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895CDB0-79FA-32FF-40B9-7A20E66F0C3A}"/>
              </a:ext>
            </a:extLst>
          </p:cNvPr>
          <p:cNvSpPr/>
          <p:nvPr/>
        </p:nvSpPr>
        <p:spPr>
          <a:xfrm>
            <a:off x="396835" y="28795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6D38BA1-9047-1731-C39E-3EA2CB8DB099}"/>
              </a:ext>
            </a:extLst>
          </p:cNvPr>
          <p:cNvSpPr/>
          <p:nvPr/>
        </p:nvSpPr>
        <p:spPr>
          <a:xfrm>
            <a:off x="396835" y="92134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D64B653-F7E3-CD88-82D6-613A9C728490}"/>
              </a:ext>
            </a:extLst>
          </p:cNvPr>
          <p:cNvSpPr/>
          <p:nvPr/>
        </p:nvSpPr>
        <p:spPr>
          <a:xfrm>
            <a:off x="396835" y="155473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DAA96D7-3D27-053D-6470-0932E722C168}"/>
              </a:ext>
            </a:extLst>
          </p:cNvPr>
          <p:cNvSpPr/>
          <p:nvPr/>
        </p:nvSpPr>
        <p:spPr>
          <a:xfrm>
            <a:off x="396835" y="218811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C31E262-044B-C8DC-140E-BF0C3D18FBAE}"/>
              </a:ext>
            </a:extLst>
          </p:cNvPr>
          <p:cNvSpPr/>
          <p:nvPr/>
        </p:nvSpPr>
        <p:spPr>
          <a:xfrm>
            <a:off x="396835" y="282150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contact section, featuring the dark-themed form with styled input fields, a clear submit button, alongside my contact details and an easily accessible CV download option.</a:t>
            </a:r>
            <a:endParaRPr lang="en-US" sz="850" dirty="0"/>
          </a:p>
        </p:txBody>
      </p:sp>
      <p:pic>
        <p:nvPicPr>
          <p:cNvPr id="10" name="Picture 9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80EEE073-30DB-78EB-A3ED-6773A32A4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4473"/>
            <a:ext cx="14630400" cy="50806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7BA0F4-C8D5-143A-3664-870A5B34FECC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73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E8E7-4C65-38B9-35AE-B359ECD8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C337A9-9469-591C-ED9C-C6FA2CF574EA}"/>
              </a:ext>
            </a:extLst>
          </p:cNvPr>
          <p:cNvSpPr/>
          <p:nvPr/>
        </p:nvSpPr>
        <p:spPr>
          <a:xfrm>
            <a:off x="396835" y="311825"/>
            <a:ext cx="617136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Showcase: A Glimpse of the Portfolio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0846C8-77A3-FF34-FF8F-9FA9244E71E9}"/>
              </a:ext>
            </a:extLst>
          </p:cNvPr>
          <p:cNvSpPr/>
          <p:nvPr/>
        </p:nvSpPr>
        <p:spPr>
          <a:xfrm>
            <a:off x="396835" y="9285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3B3AB32-8D1D-0DF2-68CF-0F392920AE1B}"/>
              </a:ext>
            </a:extLst>
          </p:cNvPr>
          <p:cNvSpPr/>
          <p:nvPr/>
        </p:nvSpPr>
        <p:spPr>
          <a:xfrm>
            <a:off x="396835" y="28795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0EB1693-ED9A-0E87-C6A0-67F965AB940E}"/>
              </a:ext>
            </a:extLst>
          </p:cNvPr>
          <p:cNvSpPr/>
          <p:nvPr/>
        </p:nvSpPr>
        <p:spPr>
          <a:xfrm>
            <a:off x="396835" y="92134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A93699F-5571-4B1F-AED8-89B067EB9108}"/>
              </a:ext>
            </a:extLst>
          </p:cNvPr>
          <p:cNvSpPr/>
          <p:nvPr/>
        </p:nvSpPr>
        <p:spPr>
          <a:xfrm>
            <a:off x="396835" y="155473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5A0308C-B474-0925-0EBB-3AC18A7BADC9}"/>
              </a:ext>
            </a:extLst>
          </p:cNvPr>
          <p:cNvSpPr/>
          <p:nvPr/>
        </p:nvSpPr>
        <p:spPr>
          <a:xfrm>
            <a:off x="396835" y="218811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3F293E6-74B4-E975-E180-CD642DFA1CB1}"/>
              </a:ext>
            </a:extLst>
          </p:cNvPr>
          <p:cNvSpPr/>
          <p:nvPr/>
        </p:nvSpPr>
        <p:spPr>
          <a:xfrm>
            <a:off x="396835" y="282150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contact section, featuring the dark-themed form with styled input fields, a clear submit button, alongside my contact details and an easily accessible CV download option.</a:t>
            </a:r>
            <a:endParaRPr lang="en-US" sz="850" dirty="0"/>
          </a:p>
        </p:txBody>
      </p:sp>
      <p:pic>
        <p:nvPicPr>
          <p:cNvPr id="6" name="Picture 5" descr="A collage of a person holding a phone&#10;&#10;AI-generated content may be incorrect.">
            <a:extLst>
              <a:ext uri="{FF2B5EF4-FFF2-40B4-BE49-F238E27FC236}">
                <a16:creationId xmlns:a16="http://schemas.microsoft.com/office/drawing/2014/main" id="{AEE07A83-EDC3-E8CF-5E8D-886DD894B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635"/>
            <a:ext cx="14630400" cy="69163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FAA773-4CD5-B410-4B5B-C1CA376EB506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769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BE51-532F-ADC7-FAFE-FED07EF29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5DE8F7-68D3-A6DF-AF38-0BF6C5B49817}"/>
              </a:ext>
            </a:extLst>
          </p:cNvPr>
          <p:cNvSpPr/>
          <p:nvPr/>
        </p:nvSpPr>
        <p:spPr>
          <a:xfrm>
            <a:off x="396835" y="311825"/>
            <a:ext cx="617136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Showcase: A Glimpse of the Portfolio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88EC0-A73F-6AEC-EC31-28022CF51F39}"/>
              </a:ext>
            </a:extLst>
          </p:cNvPr>
          <p:cNvSpPr/>
          <p:nvPr/>
        </p:nvSpPr>
        <p:spPr>
          <a:xfrm>
            <a:off x="396835" y="9285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2B9FAE-C6A4-A98F-1F7F-EE598EF07AFD}"/>
              </a:ext>
            </a:extLst>
          </p:cNvPr>
          <p:cNvSpPr/>
          <p:nvPr/>
        </p:nvSpPr>
        <p:spPr>
          <a:xfrm>
            <a:off x="396835" y="28795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7A698C5-2873-A0F7-2FBE-D632D6403093}"/>
              </a:ext>
            </a:extLst>
          </p:cNvPr>
          <p:cNvSpPr/>
          <p:nvPr/>
        </p:nvSpPr>
        <p:spPr>
          <a:xfrm>
            <a:off x="396835" y="92134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C957489-8169-480B-895C-BF3F84118067}"/>
              </a:ext>
            </a:extLst>
          </p:cNvPr>
          <p:cNvSpPr/>
          <p:nvPr/>
        </p:nvSpPr>
        <p:spPr>
          <a:xfrm>
            <a:off x="396835" y="155473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4FE6EDE-3909-A324-5653-71171CD32B1F}"/>
              </a:ext>
            </a:extLst>
          </p:cNvPr>
          <p:cNvSpPr/>
          <p:nvPr/>
        </p:nvSpPr>
        <p:spPr>
          <a:xfrm>
            <a:off x="396835" y="218811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5F12641-FC14-96B7-E943-68FBA7184C7E}"/>
              </a:ext>
            </a:extLst>
          </p:cNvPr>
          <p:cNvSpPr/>
          <p:nvPr/>
        </p:nvSpPr>
        <p:spPr>
          <a:xfrm>
            <a:off x="396835" y="282150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contact section, featuring the dark-themed form with styled input fields, a clear submit button, alongside my contact details and an easily accessible CV download option.</a:t>
            </a:r>
            <a:endParaRPr lang="en-US" sz="85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AA2811-A3A2-72E0-8ADF-CCF7D5484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1969"/>
            <a:ext cx="14630400" cy="53856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D296A-12E7-B50E-4EA0-0BDC0EDED722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889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89" y="578763"/>
            <a:ext cx="13286423" cy="131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Conclusion: A Modern, Responsive, and Professional Portfolio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671989" y="2282666"/>
            <a:ext cx="6547247" cy="576024"/>
          </a:xfrm>
          <a:prstGeom prst="roundRect">
            <a:avLst>
              <a:gd name="adj" fmla="val 480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1547" y="2426613"/>
            <a:ext cx="288012" cy="288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918" y="3050619"/>
            <a:ext cx="3197781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Professional &amp; Responsive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63918" y="3495675"/>
            <a:ext cx="6163389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portfolio embodies a professional aesthetic, crafted to be fully responsive across all devices, ensuring an optimal viewing experience for every visitor.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11164" y="2282666"/>
            <a:ext cx="6547247" cy="576024"/>
          </a:xfrm>
          <a:prstGeom prst="roundRect">
            <a:avLst>
              <a:gd name="adj" fmla="val 480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0722" y="2426613"/>
            <a:ext cx="288012" cy="288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03093" y="3050619"/>
            <a:ext cx="264009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Showcasing Expertise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7603093" y="3495675"/>
            <a:ext cx="6163389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stands as a testament to my web development capabilities, effectively highlighting my diverse skill set and serving as a comprehensive digital resume.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71989" y="4801076"/>
            <a:ext cx="6547247" cy="576024"/>
          </a:xfrm>
          <a:prstGeom prst="roundRect">
            <a:avLst>
              <a:gd name="adj" fmla="val 480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01547" y="4945023"/>
            <a:ext cx="288012" cy="2880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3918" y="5569029"/>
            <a:ext cx="307407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Comprehensive Overview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863918" y="6014085"/>
            <a:ext cx="6163389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website provides a clear, concise overview of my projects, services offered, and direct contact avenues, making it easy for potential collaborators to engage.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411164" y="4801076"/>
            <a:ext cx="6547247" cy="576024"/>
          </a:xfrm>
          <a:prstGeom prst="roundRect">
            <a:avLst>
              <a:gd name="adj" fmla="val 480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40722" y="4945023"/>
            <a:ext cx="288012" cy="288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03093" y="5569029"/>
            <a:ext cx="264009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From Scratch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7603093" y="6014085"/>
            <a:ext cx="6163389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of this portfolio has been meticulously built from the ground up using pure HTML, CSS, and JavaScript, demonstrating a strong command of core web technologies.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1989" y="7343537"/>
            <a:ext cx="1328642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D9B61F-F1E9-DECA-9501-90571D7482E9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4AF51-61CE-3624-6D49-46902794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DB35D0-19BF-9FC0-90B2-B8099FC2D2F7}"/>
              </a:ext>
            </a:extLst>
          </p:cNvPr>
          <p:cNvSpPr/>
          <p:nvPr/>
        </p:nvSpPr>
        <p:spPr>
          <a:xfrm>
            <a:off x="3630689" y="3601341"/>
            <a:ext cx="617136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9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Thank You</a:t>
            </a:r>
            <a:endParaRPr lang="en-US" sz="9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1BD4AA-2CBA-A5E5-0F1D-C7691BAAAA6F}"/>
              </a:ext>
            </a:extLst>
          </p:cNvPr>
          <p:cNvSpPr/>
          <p:nvPr/>
        </p:nvSpPr>
        <p:spPr>
          <a:xfrm>
            <a:off x="396835" y="9285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32F4A7-60EC-C817-14D0-1EF69952D855}"/>
              </a:ext>
            </a:extLst>
          </p:cNvPr>
          <p:cNvSpPr/>
          <p:nvPr/>
        </p:nvSpPr>
        <p:spPr>
          <a:xfrm>
            <a:off x="396835" y="28795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28A29E1-029D-0632-C92A-8C14E30E7CF8}"/>
              </a:ext>
            </a:extLst>
          </p:cNvPr>
          <p:cNvSpPr/>
          <p:nvPr/>
        </p:nvSpPr>
        <p:spPr>
          <a:xfrm>
            <a:off x="396835" y="92134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72E72CE-2338-D64B-02DD-061B2CED6CE5}"/>
              </a:ext>
            </a:extLst>
          </p:cNvPr>
          <p:cNvSpPr/>
          <p:nvPr/>
        </p:nvSpPr>
        <p:spPr>
          <a:xfrm>
            <a:off x="396835" y="155473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6C62E48-F9B2-07D7-E223-E73A1C46AEB4}"/>
              </a:ext>
            </a:extLst>
          </p:cNvPr>
          <p:cNvSpPr/>
          <p:nvPr/>
        </p:nvSpPr>
        <p:spPr>
          <a:xfrm>
            <a:off x="396835" y="218811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63927D5-D730-606B-80CA-D4FF0923D346}"/>
              </a:ext>
            </a:extLst>
          </p:cNvPr>
          <p:cNvSpPr/>
          <p:nvPr/>
        </p:nvSpPr>
        <p:spPr>
          <a:xfrm>
            <a:off x="396835" y="282150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contact section, featuring the dark-themed form with styled input fields, a clear submit button, alongside my contact details and an easily accessible CV download option.</a:t>
            </a:r>
            <a:endParaRPr lang="en-US" sz="8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0D644-84D7-4424-D3A9-D43E13922A4C}"/>
              </a:ext>
            </a:extLst>
          </p:cNvPr>
          <p:cNvSpPr txBox="1"/>
          <p:nvPr/>
        </p:nvSpPr>
        <p:spPr>
          <a:xfrm>
            <a:off x="12768146" y="7731858"/>
            <a:ext cx="1862254" cy="497742"/>
          </a:xfrm>
          <a:prstGeom prst="rect">
            <a:avLst/>
          </a:prstGeom>
          <a:solidFill>
            <a:srgbClr val="FDFAF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36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1553</Words>
  <Application>Microsoft Office PowerPoint</Application>
  <PresentationFormat>Custom</PresentationFormat>
  <Paragraphs>208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Petrona Bold</vt:lpstr>
      <vt:lpstr>Aptos</vt:lpstr>
      <vt:lpstr>Arial</vt:lpstr>
      <vt:lpstr>Inter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priyanshu29085@outlook.com</cp:lastModifiedBy>
  <cp:revision>39</cp:revision>
  <dcterms:created xsi:type="dcterms:W3CDTF">2025-12-04T00:11:31Z</dcterms:created>
  <dcterms:modified xsi:type="dcterms:W3CDTF">2025-12-04T07:16:31Z</dcterms:modified>
</cp:coreProperties>
</file>